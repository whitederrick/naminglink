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9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7021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상호명·사업자등록번호·URL·테스트계정 4개 항목은 토스 가이드 6페이지 필수 항목.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결제 경로 요약. 실물 배송이 없는 무형 상품임을 명확히 보여 주는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토스 가이드 7페이지 필수 6항목. 사업자등록증과 완전히 일치해야 함. 통신판매업신고번호는 신고 완료 후 값을 채워 넣을 것 — 관리자 화면(site_contents 의 footer.global)과 packages/core/src/company.ts 를 함께 고친다.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결제 가능한 실제 판매 상품이 화면에 노출되어 있어야 함(테스트 상품 불가). 국내 결제 상품은 위 디지털 4종뿐이며, 이름 도장은 /ko/stamp-order 를 두지 않고 /en/stamp-order 로만 제공한다(2026-08-19 적용).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무형 상품이라 배송 절차가 없음을 명시. 실물 굿즈(이름 도장)는 해외 페이팔 전용이라 토스페이먼츠 계약 범위 밖이며, 국내 판매 계획이 없다(2026-08-18 사업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토스 가이드 9페이지에 해당. 환불 기준이 상품별로 구분되어 있어야 함. 절 번호는 운영 화면(/ko/refund-policy)에 실제로 표시되는 번호와 같다 — 판매하지 않는 상품의 절은 화면에서 빠지고 남은 절에 번호가 다시 매겨진다.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— 상품 선택 — 결제 경로 캡처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— 결제수단 선택 및 결제 — 결제 경로 캡처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— 결제 완료 및 제공 — 결제 경로 캡처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요구사항 1-4) 결제모듈 직접 연동 여부 Y, 2-3) 결제창 연동에 대응하는 슬라이드. 토스페이먼츠 결제 SDK는 후보 잠금 해제·한자 상세 결제 화면에 이미 연동되어 있으며, 운영 환경에 결제 키를 적용하면 결제창이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023360" cy="402336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1143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결제경로 안내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Naming-Link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68680" y="25786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DD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이름에 맞는 인명용 한자와 이름 변환 리포트를 제공하는 웹 서비스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상호명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54680" y="3429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(주)Platforest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39959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사업자등록번호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54680" y="399592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197-86-02010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8680" y="45628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URL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54680" y="456285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51297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3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계정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54680" y="512978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비회원 구매 </a:t>
            </a:r>
            <a:r>
              <a:rPr lang="en-US" sz="135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</a:t>
            </a: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- 별도 계정 불필요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A0A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· 토스페이먼츠 계약심사 제출용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경로 한눈에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가입 없이 서비스 이용부터 결제 완료까지 4단계로 진행됩니다.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27000" dist="127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4183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4183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4183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이용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이름·출생 정보를 입력하고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기본 분석 결과를 확인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27000" dist="127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73075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73075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3075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선택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3075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화면에서 유료 리포트를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선택하고 금액·조건을 확인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26364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27000" dist="127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51967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51967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1967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967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결제창에서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결제수단을 선택하고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0" y="27432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A89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052560" y="1874520"/>
            <a:ext cx="240487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27000" dist="127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9308592" y="21488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30859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08592" y="2807208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완료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08592" y="31729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즉시 리포트가 생성되어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열람·다운로드 가능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5800" y="42976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41832" y="4480560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상품 (모두 무형 디지털 콘텐츠)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41832" y="4828032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최대 5개 상세 — 2,900원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최대 10개 확장 상세 PDF — 4,900원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후보 10개 사주·오행 종합 리포트 — 9,900원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전체 일괄 공개 — 990원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64808" y="4297680"/>
            <a:ext cx="501091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720840" y="4480560"/>
            <a:ext cx="4498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방식 및 기간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20840" y="4828032"/>
            <a:ext cx="4498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즉시 서버에서 생성되어 바로 제공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다운로드 보관 기간: 결제 후 24시간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서비스 제공기간: 1일 (배송 없음)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사업자정보 표기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페이지 하단(푸터)에 상시 노출됩니다.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956048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11680"/>
          <a:ext cx="5532120" cy="257860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상호명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(주)Platforest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대표자명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곽은하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사업자등록번호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197-86-02010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통신판매업신고번호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 신고 준비 중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사업장주소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서울특별시 금천구 디지털로 130,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13층 1309호 (가산동, 남성프라자)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2809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유선전화번호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070-4300-7141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0" y="1335024"/>
            <a:ext cx="4343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하단 푸터 전체가 보이도록 캡처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685800" y="48463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통신판매업 신고번호는 신고 절차 진행 중입니다. 구매안전서비스 이용 확인증 발급 후 값을 채워 재제출하겠습니다. 나머지 5개 항목은 사업자등록증과 일치합니다.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5064989-738C-22D3-F06D-A4757C3F2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143" y="1670092"/>
            <a:ext cx="4892040" cy="266124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8C940C9-C762-4A89-422A-67BBFC3F3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143" y="4642232"/>
            <a:ext cx="4892040" cy="8872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상세 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내용·금액·제공 방식·제공 기간을 결제 전에 고지합니다.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https://naming-link.com/ko/pricing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190041"/>
              </p:ext>
            </p:extLst>
          </p:nvPr>
        </p:nvGraphicFramePr>
        <p:xfrm>
          <a:off x="685800" y="1965960"/>
          <a:ext cx="5532120" cy="2651760"/>
        </p:xfrm>
        <a:graphic>
          <a:graphicData uri="http://schemas.openxmlformats.org/drawingml/2006/table">
            <a:tbl>
              <a:tblPr/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형태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최대 5개 상세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웹 열람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최대 10개 확장 상세 PDF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PDF 다운로드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한자 후보 10개 사주·오행 종합 리포트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PDF 다운로드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후보 전체 </a:t>
                      </a:r>
                      <a:r>
                        <a:rPr lang="en-US" sz="1100" dirty="0" err="1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일괄</a:t>
                      </a: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</a:t>
                      </a:r>
                      <a:r>
                        <a:rPr lang="en-US" sz="1100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(Korean to Global)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B7A8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웹 열람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489204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941832" y="507492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단건 결제 기준 최고가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1832" y="5422392"/>
            <a:ext cx="5020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9,900원 (한자 후보 10개 사주·오행 종합 리포트)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US$ 디지털 상품과 이름 도장은 페이팔 전용이며, 이름 도장은 한국어 주소를 제공하지 않습니다(토스페이먼츠 결제 범위 밖).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0" y="1335024"/>
            <a:ext cx="4892040" cy="4809744"/>
          </a:xfrm>
          <a:prstGeom prst="roundRect">
            <a:avLst>
              <a:gd name="adj" fmla="val 1141"/>
            </a:avLst>
          </a:prstGeom>
          <a:solidFill>
            <a:srgbClr val="F1F6F7"/>
          </a:solidFill>
          <a:ln w="19050">
            <a:solidFill>
              <a:srgbClr val="00A89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상품명·금액·설명이 함께 보이는 화면</a:t>
            </a:r>
            <a:endParaRPr lang="en-US" sz="15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9079B1A-8392-C694-BBB2-636E38873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866" y="1297086"/>
            <a:ext cx="4971286" cy="51784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교환·반품 및 배송 정보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상품이 모두 무형 디지털 콘텐츠이므로 배송 절차가 없습니다.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https://naming-link.com/ko/refund-policy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941832" y="21945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정보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542032"/>
            <a:ext cx="50200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방법: 해당 없음 (온라인 즉시 제공)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배송 지역: 해당 없음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시점: 결제 완료 직후 결과 화면에서 열람·다운로드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토스페이먼츠로 결제되는 상품에는 실물 배송 상품이 없습니다.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5532120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41832" y="42519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 및 반품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41832" y="4599432"/>
            <a:ext cx="502005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생성이 시작되기 전에는 취소가 가능합니다.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생성이 완료되어 열람·다운로드가 가능해진 뒤에는 단순 변심 환불이 제한될 수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실패·내용 오류·결제 금액 불일치는 재발급 또는 환불로 처리합니다.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문의: platforest.inc@gmail.com / 070-4300-7141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환불정책 페이지 상단 화면</a:t>
            </a:r>
            <a:endParaRPr lang="en-US" sz="15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0E91A08F-1D61-72E8-90DF-0384841A599D}"/>
              </a:ext>
            </a:extLst>
          </p:cNvPr>
          <p:cNvGrpSpPr/>
          <p:nvPr/>
        </p:nvGrpSpPr>
        <p:grpSpPr>
          <a:xfrm>
            <a:off x="6473952" y="975264"/>
            <a:ext cx="3759546" cy="5055885"/>
            <a:chOff x="6300215" y="1279187"/>
            <a:chExt cx="4415428" cy="5893918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A355FB19-5262-F476-0EB2-25F99962E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80"/>
            <a:stretch>
              <a:fillRect/>
            </a:stretch>
          </p:blipFill>
          <p:spPr>
            <a:xfrm>
              <a:off x="6300216" y="1279187"/>
              <a:ext cx="4415427" cy="4582312"/>
            </a:xfrm>
            <a:prstGeom prst="rect">
              <a:avLst/>
            </a:pr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07AC481-DE78-ABA6-E85A-FD4C0B9DA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00215" y="5197172"/>
              <a:ext cx="4415427" cy="1975933"/>
            </a:xfrm>
            <a:prstGeom prst="rect">
              <a:avLst/>
            </a:prstGeom>
          </p:spPr>
        </p:pic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5495CCD0-8D16-747F-BE53-FDC812284E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0201" y="4069080"/>
            <a:ext cx="4343400" cy="24539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 정책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상품군별 취소·환불 기준을 결제 전에 고지합니다. (환불정책 페이지의 절 번호·순서와 동일)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https://naming-link.com/ko/refund-policy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33856" y="1956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33856" y="239572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상품의 제공 방식, 제작 착수 시점, 다운로드 여부에 따라 환불 가능 범위가 달라질 수 있으며, 구체 조건은 결제 전 상품 화면에 고지합니다.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03580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3856" y="29809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한자 상세 리포트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33856" y="34198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상세 분석 생성이 시작되기 전에는 취소가 가능합니다. 생성이 완료되어 열람·다운로드가 가능해진 뒤에는 단순 변심 환불이 제한될 수 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5993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858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33856" y="40050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전체 일괄 공개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33856" y="444398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즉시 제공되는 디지털 콘텐츠입니다. 후보 열람이 시작되기 전에는 취소가 가능하며, 열람 후에는 단순 변심 환불이 제한될 수 있습니다.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1335024"/>
            <a:ext cx="434340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환불정책 페이지 본문 화면</a:t>
            </a:r>
            <a:endParaRPr lang="en-US" sz="1500" dirty="0"/>
          </a:p>
        </p:txBody>
      </p:sp>
      <p:sp>
        <p:nvSpPr>
          <p:cNvPr id="22" name="Shape 6"/>
          <p:cNvSpPr/>
          <p:nvPr/>
        </p:nvSpPr>
        <p:spPr>
          <a:xfrm>
            <a:off x="685800" y="508406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7"/>
          <p:cNvSpPr/>
          <p:nvPr/>
        </p:nvSpPr>
        <p:spPr>
          <a:xfrm>
            <a:off x="685800" y="5084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2E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8"/>
          <p:cNvSpPr/>
          <p:nvPr/>
        </p:nvSpPr>
        <p:spPr>
          <a:xfrm>
            <a:off x="1133856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광고형 잠금 해제</a:t>
            </a:r>
            <a:endParaRPr lang="en-US" sz="1400" dirty="0"/>
          </a:p>
        </p:txBody>
      </p:sp>
      <p:sp>
        <p:nvSpPr>
          <p:cNvPr id="25" name="Text 9"/>
          <p:cNvSpPr/>
          <p:nvPr/>
        </p:nvSpPr>
        <p:spPr>
          <a:xfrm>
            <a:off x="1133856" y="54681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시청형 혜택은 결제 상품이 아닙니다. 광고 네트워크 오류로 보상이 지급되지 않은 경우 재시도 또는 고객센터 문의로 처리합니다.</a:t>
            </a:r>
            <a:endParaRPr lang="en-US" sz="1100" dirty="0"/>
          </a:p>
        </p:txBody>
      </p:sp>
      <p:sp>
        <p:nvSpPr>
          <p:cNvPr id="26" name="Text 9"/>
          <p:cNvSpPr/>
          <p:nvPr/>
        </p:nvSpPr>
        <p:spPr>
          <a:xfrm>
            <a:off x="1133856" y="6053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문의 — platforest.inc@gmail.com · 070-4300-7141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생성 실패·내용 오류·결제 금액 불일치는 재발급 또는 환불로 처리합니다.</a:t>
            </a:r>
            <a:endParaRPr lang="en-US" sz="1100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51D6D90-D047-398A-8FDA-0F35A3C02C22}"/>
              </a:ext>
            </a:extLst>
          </p:cNvPr>
          <p:cNvGrpSpPr/>
          <p:nvPr/>
        </p:nvGrpSpPr>
        <p:grpSpPr>
          <a:xfrm>
            <a:off x="7462628" y="1230712"/>
            <a:ext cx="4040524" cy="5529264"/>
            <a:chOff x="6300215" y="1279187"/>
            <a:chExt cx="4415428" cy="5893918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526CB7B8-ED80-EF38-DEC3-56CB0EF6EA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80"/>
            <a:stretch>
              <a:fillRect/>
            </a:stretch>
          </p:blipFill>
          <p:spPr>
            <a:xfrm>
              <a:off x="6300216" y="1279187"/>
              <a:ext cx="4415427" cy="4582312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7B9B9CB1-10BD-1171-7E84-AE2EEC879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00215" y="5197172"/>
              <a:ext cx="4415427" cy="197593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— 상품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분석 결과 화면에서 유료 리포트를 선택합니다.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https://naming-link.com/hanja-meaning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11680"/>
            <a:ext cx="6766560" cy="413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상품과 금액이 표시된 결과 화면 · 구매 버튼이 보이도록 캡처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이름·출생 정보를 입력하면 무료 기본 분석 결과가 표시됩니다.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화면에서 유료 리포트의 내용과 금액을 확인합니다.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가입이나 로그인 없이 비회원으로 진행할 수 </a:t>
            </a:r>
            <a:r>
              <a:rPr lang="en-US" sz="1150" dirty="0" err="1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</a:t>
            </a: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</a:rPr>
              <a:t>9,900</a:t>
            </a:r>
            <a:r>
              <a:rPr lang="ko-KR" alt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</a:rPr>
              <a:t>원의 상품의 경우에는 추가 정밀 사주 계산 정보를</a:t>
            </a:r>
            <a:r>
              <a:rPr lang="en-US" altLang="ko-KR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</a:rPr>
              <a:t> </a:t>
            </a:r>
            <a:r>
              <a:rPr lang="ko-KR" alt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</a:rPr>
              <a:t>입력해야만 결제가 가능합니다</a:t>
            </a:r>
            <a:r>
              <a:rPr lang="en-US" altLang="ko-KR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</a:rPr>
              <a:t>.</a:t>
            </a:r>
            <a:endParaRPr lang="en-US" sz="11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431BD25-8C7C-3786-966E-DE34374C8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588"/>
          <a:stretch>
            <a:fillRect/>
          </a:stretch>
        </p:blipFill>
        <p:spPr>
          <a:xfrm>
            <a:off x="704088" y="1929384"/>
            <a:ext cx="5630660" cy="390118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C02F3E0-4F2D-577A-A318-A5ADA3A7A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67" y="4209077"/>
            <a:ext cx="6200021" cy="25084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— 결제수단 선택 및 결제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결제창에서 결제수단을 선택하고 결제를 진행합니다.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https://js.tosspayments.com (결제창)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11680"/>
            <a:ext cx="6766560" cy="413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 위치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결제창이 열린 화면 · 상품명과 결제 금액이 보이도록 캡처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구매 버튼을 누르면 토스페이먼츠 결제창이 열립니다.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금액은 서버가 상품표에서 읽은 값으로 확정되며, 화면이 보낸 금액을 신뢰하지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결제수단(카드·계좌이체 등)을 선택하고 결제를 완료합니다.</a:t>
            </a:r>
            <a:endParaRPr lang="en-US" sz="11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FE1C0F6-9B09-2F97-94FD-1FC62803E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1957894"/>
            <a:ext cx="4361221" cy="374251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875B44F-9F5D-17FD-D7FA-E69BBF31D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555" y="3577819"/>
            <a:ext cx="2797287" cy="280563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C4B8232-F527-74CC-DA47-1305A6E370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583" y="1985139"/>
            <a:ext cx="2366870" cy="26001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— 결제 완료 및 제공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즉시 리포트가 생성되어 결과 화면에서 제공됩니다.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603504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5742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https://naming-link.com/hanja-meaning/result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75320" y="2011680"/>
            <a:ext cx="3200400" cy="4133088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531352" y="219456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설명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31352" y="2542032"/>
            <a:ext cx="2688336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결과를 서버에서 검증한 뒤 리포트 생성을 시작합니다.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생성이 끝나면 결과 화면에서 바로 열람하거나 PDF로 내려받을 수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다운로드 보관 기간은 결제 후 24시간이며 결제 전 화면에 고지합니다.</a:t>
            </a:r>
            <a:endParaRPr lang="en-US" sz="11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83FFEB5-EB84-1737-4DCC-18737DCE8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57" y="2101029"/>
            <a:ext cx="2691229" cy="458069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D671E00-3B27-B1CB-44D9-B53633ECB2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0739" y="2101029"/>
            <a:ext cx="3349869" cy="13279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79EBAB5-868C-127A-BD32-9BA0B1FAE4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8850" y="3429000"/>
            <a:ext cx="3333645" cy="3255937"/>
          </a:xfrm>
          <a:prstGeom prst="rect">
            <a:avLst/>
          </a:prstGeom>
        </p:spPr>
      </p:pic>
      <p:sp>
        <p:nvSpPr>
          <p:cNvPr id="19" name="Text 3">
            <a:extLst>
              <a:ext uri="{FF2B5EF4-FFF2-40B4-BE49-F238E27FC236}">
                <a16:creationId xmlns:a16="http://schemas.microsoft.com/office/drawing/2014/main" id="{169007BA-6ABA-1CD4-DAE1-874FAB0F4A04}"/>
              </a:ext>
            </a:extLst>
          </p:cNvPr>
          <p:cNvSpPr/>
          <p:nvPr/>
        </p:nvSpPr>
        <p:spPr>
          <a:xfrm>
            <a:off x="682209" y="1790133"/>
            <a:ext cx="24628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2,900</a:t>
            </a:r>
            <a:r>
              <a:rPr lang="ko-KR" alt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결제 시</a:t>
            </a:r>
            <a:endParaRPr lang="en-US" sz="1200" dirty="0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DA46B4E8-66E5-5845-7E0F-11B4F4296BE0}"/>
              </a:ext>
            </a:extLst>
          </p:cNvPr>
          <p:cNvSpPr/>
          <p:nvPr/>
        </p:nvSpPr>
        <p:spPr>
          <a:xfrm>
            <a:off x="3808850" y="1790133"/>
            <a:ext cx="3474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9,900</a:t>
            </a:r>
            <a:r>
              <a:rPr lang="ko-KR" alt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결제 시</a:t>
            </a:r>
            <a:r>
              <a:rPr lang="en-US" altLang="ko-KR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(15</a:t>
            </a:r>
            <a:r>
              <a:rPr lang="ko-KR" alt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 이상의 </a:t>
            </a:r>
            <a:r>
              <a:rPr lang="en-US" altLang="ko-KR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pdf </a:t>
            </a:r>
            <a:r>
              <a:rPr lang="ko-KR" alt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제공</a:t>
            </a:r>
            <a:r>
              <a:rPr lang="en-US" altLang="ko-KR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5FD1CE5-73F1-C2AD-094D-E5CACD5AB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618" y="3479070"/>
            <a:ext cx="1389958" cy="191979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1AA4C56-8E16-1B55-3048-30F27DE66E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5352" y="4559400"/>
            <a:ext cx="1357568" cy="19197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61872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연동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96012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A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 SDK를 서비스에 직접 연동했습니다. 호스팅 솔루션을 사용하지 않습니다.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1872" y="1335024"/>
            <a:ext cx="4572000" cy="384048"/>
          </a:xfrm>
          <a:prstGeom prst="roundRect">
            <a:avLst>
              <a:gd name="adj" fmla="val 19048"/>
            </a:avLst>
          </a:prstGeom>
          <a:solidFill>
            <a:srgbClr val="F1F6F7"/>
          </a:solidFill>
          <a:ln w="12700">
            <a:solidFill>
              <a:srgbClr val="D6E2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08176" y="133502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https://naming-link.com · Next.js 자체 구축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941832" y="21945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연동 여부 — 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542032"/>
            <a:ext cx="50200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카페24·식스샵·아임웹 등 호스팅 솔루션 미사용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Next.js로 자체 구축한 웹 서비스에 결제 SDK 직접 연동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호스팅은 Vercel Inc. (쇼핑몰 솔루션 아님)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5532120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41832" y="425196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 확정과 승인 검증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41832" y="4599432"/>
            <a:ext cx="502005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금액은 서버가 상품표에서 읽은 값으로 확정합니다.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보낸 금액을 신뢰하지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승인 결과를 서버에서 검증한 뒤 리포트 생성을 시작합니다.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비회원 결제이며 별도 계정이 필요하지 않습니다.</a:t>
            </a:r>
            <a:endParaRPr lang="en-US" sz="1150" dirty="0"/>
          </a:p>
        </p:txBody>
      </p:sp>
      <p:sp>
        <p:nvSpPr>
          <p:cNvPr id="16" name="Shape 6"/>
          <p:cNvSpPr/>
          <p:nvPr/>
        </p:nvSpPr>
        <p:spPr>
          <a:xfrm>
            <a:off x="6446520" y="2011680"/>
            <a:ext cx="5029200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7"/>
          <p:cNvSpPr/>
          <p:nvPr/>
        </p:nvSpPr>
        <p:spPr>
          <a:xfrm>
            <a:off x="6702552" y="219456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국내와 해외 결제 경로 분리</a:t>
            </a:r>
            <a:endParaRPr lang="en-US" sz="1400" dirty="0"/>
          </a:p>
        </p:txBody>
      </p:sp>
      <p:sp>
        <p:nvSpPr>
          <p:cNvPr id="18" name="Text 8"/>
          <p:cNvSpPr/>
          <p:nvPr/>
        </p:nvSpPr>
        <p:spPr>
          <a:xfrm>
            <a:off x="6702552" y="2542032"/>
            <a:ext cx="4517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국내(원화) 결제: 토스페이먼츠 직접 연동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해외(US$) 결제: 포트원 경유 페이팔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경로는 상품 단위로 완전히 분리되어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계약 범위는 국내 디지털 4종입니다.</a:t>
            </a:r>
            <a:endParaRPr lang="en-US" sz="1150" dirty="0"/>
          </a:p>
        </p:txBody>
      </p:sp>
      <p:sp>
        <p:nvSpPr>
          <p:cNvPr id="19" name="Shape 6"/>
          <p:cNvSpPr/>
          <p:nvPr/>
        </p:nvSpPr>
        <p:spPr>
          <a:xfrm>
            <a:off x="6446520" y="4069080"/>
            <a:ext cx="5029200" cy="2075688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E2E5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7"/>
          <p:cNvSpPr/>
          <p:nvPr/>
        </p:nvSpPr>
        <p:spPr>
          <a:xfrm>
            <a:off x="6702552" y="425196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상태와 확인 방법</a:t>
            </a:r>
            <a:endParaRPr lang="en-US" sz="1400" dirty="0"/>
          </a:p>
        </p:txBody>
      </p:sp>
      <p:sp>
        <p:nvSpPr>
          <p:cNvPr id="21" name="Text 8"/>
          <p:cNvSpPr/>
          <p:nvPr/>
        </p:nvSpPr>
        <p:spPr>
          <a:xfrm>
            <a:off x="6702552" y="4599432"/>
            <a:ext cx="45171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SDK는 후보 잠금 해제·한자 상세 결제 화면에 연동되어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환경에 결제 키를 적용하면 결제창이 열립니다.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 기간에는 토스페이먼츠 테스트 키로 결제창을 확인합니다.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도장은 해외 전용이라 한국어 주소를 제공하지 않습니다 (/ko/stamp-order → /en/stamp-order).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1389</Words>
  <Application>Microsoft Office PowerPoint</Application>
  <PresentationFormat>와이드스크린</PresentationFormat>
  <Paragraphs>196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Naming-Link 결제경로</dc:title>
  <dc:subject>PptxGenJS Presentation</dc:subject>
  <dc:creator>Platforest Inc.</dc:creator>
  <cp:lastModifiedBy>NAMKYU AHN</cp:lastModifiedBy>
  <cp:revision>5</cp:revision>
  <dcterms:created xsi:type="dcterms:W3CDTF">2026-08-18T03:38:35Z</dcterms:created>
  <dcterms:modified xsi:type="dcterms:W3CDTF">2026-08-19T04:21:24Z</dcterms:modified>
</cp:coreProperties>
</file>