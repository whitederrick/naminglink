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상호명·사업자등록번호·URL·테스트계정 4개 항목은 토스 가이드 6페이지 필수 항목.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결제 경로 요약. 실물 배송이 없는 무형 상품임을 명확히 보여 주는 슬라이드.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토스 가이드 7페이지 필수 6항목. 사업자등록증과 완전히 일치해야 함. 통신판매업신고번호는 신고 완료 후 값을 채워 넣을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결제 가능한 실제 판매 상품이 화면에 노출되어 있어야 함(테스트 상품 불가).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무형 상품이라 배송 절차가 없음을 명시. 실물 굿즈를 계약 범위에 포함하는 경우 이 슬라이드에 제작·배송 기간을 추가해야 함(6주 초과 시 입점 불가).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토스 가이드 9페이지에 해당. 환불 기준이 상품별로 구분되어 있어야 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— 상품 선택 — 결제 경로 캡처 슬라이드.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— 결제수단 선택 및 결제 — 결제 경로 캡처 슬라이드.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— 결제 완료 및 제공 — 결제 경로 캡처 슬라이드.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023360" cy="402336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377440" cy="237744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143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결제경로 안내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6459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Naming-Link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68680" y="257860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D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 이름에 맞는 인명용 한자와 이름 변환 리포트를 제공하는 웹 서비스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B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상호명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54680" y="34290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(주)Platforest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995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B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사업자등록번호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54680" y="399592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197-86-02010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45628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B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홈페이지 URL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54680" y="4562856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https://naming-link.com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51297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B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계정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54680" y="5129784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비회원 구매 가능 — 별도 계정 불필요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868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0A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8월 · 토스페이먼츠 계약심사 제출용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경로 한눈에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61872" y="96012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가입 없이 서비스 이용부터 결제 완료까지 4단계로 진행됩니다.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240487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6E2E5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41832" y="21488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2807208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이용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41832" y="3172968"/>
            <a:ext cx="189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이름·출생 정보를 입력하고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 기본 분석 결과를 확인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108960" y="274320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474720" y="1874520"/>
            <a:ext cx="240487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6E2E5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30752" y="21488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3730752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30752" y="2807208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선택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30752" y="3172968"/>
            <a:ext cx="189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화면에서 유료 리포트를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선택하고 금액·조건을 확인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897880" y="274320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263640" y="1874520"/>
            <a:ext cx="240487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6E2E5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19672" y="21488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6519672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19672" y="2807208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19672" y="3172968"/>
            <a:ext cx="189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토스페이먼츠 결제창에서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결제수단을 선택하고 결제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686800" y="274320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052560" y="1874520"/>
            <a:ext cx="240487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6E2E5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308592" y="21488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9308592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08592" y="2807208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 완료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08592" y="3172968"/>
            <a:ext cx="189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즉시 리포트가 생성되어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열람·다운로드 가능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85800" y="42976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6E2E5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41832" y="4480560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판매 상품 (모두 무형 디지털 콘텐츠)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41832" y="4828032"/>
            <a:ext cx="4882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한자 후보 최대 5개 상세 — 2,900원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한자 후보 최대 10개 확장 상세 PDF — 4,900원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한자 후보 10개 사주·오행 종합 리포트 — 9,900원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전체 일괄 공개 — 990원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64808" y="4297680"/>
            <a:ext cx="501091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6E2E5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720840" y="4480560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 방식 및 기간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20840" y="4828032"/>
            <a:ext cx="4498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완료 즉시 서버에서 생성되어 바로 제공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다운로드 보관 기간: 결제 후 24시간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서비스 제공기간: 1일 (배송 없음)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사업자정보 표기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61872" y="96012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페이지 하단(푸터)에 상시 노출됩니다.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261872" y="1335024"/>
            <a:ext cx="4956048" cy="384048"/>
          </a:xfrm>
          <a:prstGeom prst="roundRect">
            <a:avLst>
              <a:gd name="adj" fmla="val 19048"/>
            </a:avLst>
          </a:prstGeom>
          <a:solidFill>
            <a:srgbClr val="F1F6F7"/>
          </a:solidFill>
          <a:ln w="12700">
            <a:solidFill>
              <a:srgbClr val="D6E2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08176" y="133502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https://naming-link.com/ko/pricing  (하단 푸터)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11680"/>
          <a:ext cx="5532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703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상호명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(주)Platforest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대표자명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곽은하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사업자등록번호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197-86-02010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통신판매업신고번호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신고 후 기재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사업장주소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서울특별시 금천구 디지털로 130,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13층 1309호 (가산동, 남성프라자)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유선전화번호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070-4300-7141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583680" y="1335024"/>
            <a:ext cx="4892040" cy="4846320"/>
          </a:xfrm>
          <a:prstGeom prst="roundRect">
            <a:avLst>
              <a:gd name="adj" fmla="val 1132"/>
            </a:avLst>
          </a:prstGeom>
          <a:solidFill>
            <a:srgbClr val="F1F6F7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6858000" y="1335024"/>
            <a:ext cx="43434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캡처 삽입 위치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홈페이지 하단 푸터 전체가 보이도록 캡처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상세 페이지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61872" y="96012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내용·금액·제공 방식·제공 기간을 결제 전에 고지합니다.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261872" y="1335024"/>
            <a:ext cx="4572000" cy="384048"/>
          </a:xfrm>
          <a:prstGeom prst="roundRect">
            <a:avLst>
              <a:gd name="adj" fmla="val 19048"/>
            </a:avLst>
          </a:prstGeom>
          <a:solidFill>
            <a:srgbClr val="F1F6F7"/>
          </a:solidFill>
          <a:ln w="12700">
            <a:solidFill>
              <a:srgbClr val="D6E2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08176" y="1335024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https://naming-link.com/ko/pricing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965960"/>
          <a:ext cx="553212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128016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제공 형태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금액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한자 후보 최대 5개 상세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A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웹 열람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2,900원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한자 후보 최대 10개 확장 상세 PDF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A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PDF 다운로드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4,900원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한자 후보 10개 사주·오행 종합 리포트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A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PDF 다운로드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9,900원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후보 전체 일괄 공개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A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웹 열람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990원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85800" y="4892040"/>
            <a:ext cx="55321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2E5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41832" y="507492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단건 결제 기준 최고가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41832" y="5422392"/>
            <a:ext cx="5020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9,900원 (한자 후보 10개 사주·오행 종합 리포트)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이용자 대상 US$ 디지털 상품과 이름 도장은 페이팔 전용이며 토스페이먼츠 결제 범위가 아닙니다.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583680" y="1335024"/>
            <a:ext cx="4892040" cy="4809744"/>
          </a:xfrm>
          <a:prstGeom prst="roundRect">
            <a:avLst>
              <a:gd name="adj" fmla="val 1141"/>
            </a:avLst>
          </a:prstGeom>
          <a:solidFill>
            <a:srgbClr val="F1F6F7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6858000" y="1335024"/>
            <a:ext cx="4343400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캡처 삽입 위치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상품명·금액·설명이 함께 보이는 화면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교환·반품 및 배송 정보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61872" y="96012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판매 상품이 모두 무형 디지털 콘텐츠이므로 배송 절차가 없습니다.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261872" y="1335024"/>
            <a:ext cx="4572000" cy="384048"/>
          </a:xfrm>
          <a:prstGeom prst="roundRect">
            <a:avLst>
              <a:gd name="adj" fmla="val 19048"/>
            </a:avLst>
          </a:prstGeom>
          <a:solidFill>
            <a:srgbClr val="F1F6F7"/>
          </a:solidFill>
          <a:ln w="12700">
            <a:solidFill>
              <a:srgbClr val="D6E2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08176" y="1335024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https://naming-link.com/ko/refund-policy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011680"/>
            <a:ext cx="55321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E2E5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41832" y="219456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배송 정보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41832" y="2542032"/>
            <a:ext cx="50200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배송 방법: 해당 없음 (온라인 즉시 제공)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배송 지역: 해당 없음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 시점: 결제 완료 직후 결과 화면에서 열람·다운로드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4069080"/>
            <a:ext cx="5532120" cy="2075688"/>
          </a:xfrm>
          <a:prstGeom prst="roundRect">
            <a:avLst>
              <a:gd name="adj" fmla="val 3524"/>
            </a:avLst>
          </a:prstGeom>
          <a:solidFill>
            <a:srgbClr val="FFFFFF"/>
          </a:solidFill>
          <a:ln w="12700">
            <a:solidFill>
              <a:srgbClr val="D6E2E5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41832" y="425196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교환 및 반품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41832" y="4599432"/>
            <a:ext cx="502005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 생성이 시작되기 전에는 취소가 가능합니다.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생성이 완료되어 열람·다운로드가 가능해진 뒤에는 단순 변심 환불이 제한될 수 있습니다.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실패·내용 오류·결제 금액 불일치는 재발급 또는 환불로 처리합니다.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문의: platforest.inc@gmail.com / 070-4300-7141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0" y="1335024"/>
            <a:ext cx="4892040" cy="4809744"/>
          </a:xfrm>
          <a:prstGeom prst="roundRect">
            <a:avLst>
              <a:gd name="adj" fmla="val 1141"/>
            </a:avLst>
          </a:prstGeom>
          <a:solidFill>
            <a:srgbClr val="F1F6F7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858000" y="1335024"/>
            <a:ext cx="4343400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캡처 삽입 위치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환불정책 페이지 상단 화면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환불 정책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61872" y="96012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상품군별 취소·환불 기준을 결제 전에 고지합니다.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261872" y="1335024"/>
            <a:ext cx="4572000" cy="384048"/>
          </a:xfrm>
          <a:prstGeom prst="roundRect">
            <a:avLst>
              <a:gd name="adj" fmla="val 19048"/>
            </a:avLst>
          </a:prstGeom>
          <a:solidFill>
            <a:srgbClr val="F1F6F7"/>
          </a:solidFill>
          <a:ln w="12700">
            <a:solidFill>
              <a:srgbClr val="D6E2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08176" y="1335024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https://naming-link.com/ko/refund-policy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066544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2E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33856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한자 상세 리포트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33856" y="239572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후 AI 상세 분석 생성이 시작되기 전에는 취소가 가능합니다. 생성이 완료되어 열람 또는 다운로드가 가능해진 뒤에는 단순 변심에 의한 환불이 제한될 수 있습니다.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547872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547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2E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33856" y="34930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전체 일괄 공개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33856" y="3877056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즉시 제공되는 디지털 콘텐츠입니다. 후보 열람이 시작되기 전에는 취소가 가능하며, 열람 후에는 단순 변심 환불이 제한될 수 있습니다.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502920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029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2E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33856" y="49743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3856" y="5358384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 오류, 시스템 장애로 인한 생성 실패, 결제 금액 불일치가 확인되는 경우 재발급 또는 환불로 처리합니다. 보관 기간(결제 후 24시간) 경과는 환불 사유에 해당하지 않습니다.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0" y="1335024"/>
            <a:ext cx="4892040" cy="4809744"/>
          </a:xfrm>
          <a:prstGeom prst="roundRect">
            <a:avLst>
              <a:gd name="adj" fmla="val 1141"/>
            </a:avLst>
          </a:prstGeom>
          <a:solidFill>
            <a:srgbClr val="F1F6F7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6858000" y="1335024"/>
            <a:ext cx="4343400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캡처 삽입 위치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환불정책 페이지 본문 화면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— 상품 선택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61872" y="96012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 분석 결과 화면에서 유료 리포트를 선택합니다.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261872" y="1335024"/>
            <a:ext cx="6035040" cy="384048"/>
          </a:xfrm>
          <a:prstGeom prst="roundRect">
            <a:avLst>
              <a:gd name="adj" fmla="val 19048"/>
            </a:avLst>
          </a:prstGeom>
          <a:solidFill>
            <a:srgbClr val="F1F6F7"/>
          </a:solidFill>
          <a:ln w="12700">
            <a:solidFill>
              <a:srgbClr val="D6E2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08176" y="1335024"/>
            <a:ext cx="5742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https://naming-link.com/hanja-meaning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011680"/>
            <a:ext cx="7315200" cy="4133088"/>
          </a:xfrm>
          <a:prstGeom prst="roundRect">
            <a:avLst>
              <a:gd name="adj" fmla="val 1327"/>
            </a:avLst>
          </a:prstGeom>
          <a:solidFill>
            <a:srgbClr val="F1F6F7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60120" y="2011680"/>
            <a:ext cx="6766560" cy="413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캡처 삽입 위치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상품과 금액이 표시된 결과 화면 · 구매 버튼이 보이도록 캡처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75320" y="2011680"/>
            <a:ext cx="3200400" cy="4133088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6E2E5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31352" y="219456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설명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31352" y="2542032"/>
            <a:ext cx="2688336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이름·출생 정보를 입력하면 무료 기본 분석 결과가 표시됩니다.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화면에서 유료 리포트의 내용과 금액을 확인합니다.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가입이나 로그인 없이 비회원으로 진행할 수 있습니다.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 — 결제수단 선택 및 결제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61872" y="96012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토스페이먼츠 결제창에서 결제수단을 선택하고 결제를 진행합니다.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261872" y="1335024"/>
            <a:ext cx="6035040" cy="384048"/>
          </a:xfrm>
          <a:prstGeom prst="roundRect">
            <a:avLst>
              <a:gd name="adj" fmla="val 19048"/>
            </a:avLst>
          </a:prstGeom>
          <a:solidFill>
            <a:srgbClr val="F1F6F7"/>
          </a:solidFill>
          <a:ln w="12700">
            <a:solidFill>
              <a:srgbClr val="D6E2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08176" y="1335024"/>
            <a:ext cx="5742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https://js.tosspayments.com (결제창)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011680"/>
            <a:ext cx="7315200" cy="4133088"/>
          </a:xfrm>
          <a:prstGeom prst="roundRect">
            <a:avLst>
              <a:gd name="adj" fmla="val 1327"/>
            </a:avLst>
          </a:prstGeom>
          <a:solidFill>
            <a:srgbClr val="F1F6F7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60120" y="2011680"/>
            <a:ext cx="6766560" cy="413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캡처 삽입 위치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토스페이먼츠 결제창이 열린 화면 · 상품명과 결제 금액이 보이도록 캡처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75320" y="2011680"/>
            <a:ext cx="3200400" cy="4133088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6E2E5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31352" y="219456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설명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31352" y="2542032"/>
            <a:ext cx="2688336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 버튼을 누르면 토스페이먼츠 결제창이 열립니다.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금액은 서버가 상품표에서 읽은 값으로 확정되며, 화면이 보낸 금액을 신뢰하지 않습니다.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결제수단(카드·계좌이체 등)을 선택하고 결제를 완료합니다.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 — 결제 완료 및 제공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61872" y="96012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승인 즉시 리포트가 생성되어 결과 화면에서 제공됩니다.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261872" y="1335024"/>
            <a:ext cx="6035040" cy="384048"/>
          </a:xfrm>
          <a:prstGeom prst="roundRect">
            <a:avLst>
              <a:gd name="adj" fmla="val 19048"/>
            </a:avLst>
          </a:prstGeom>
          <a:solidFill>
            <a:srgbClr val="F1F6F7"/>
          </a:solidFill>
          <a:ln w="12700">
            <a:solidFill>
              <a:srgbClr val="D6E2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08176" y="1335024"/>
            <a:ext cx="5742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https://naming-link.com/hanja-meaning/result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011680"/>
            <a:ext cx="7315200" cy="4133088"/>
          </a:xfrm>
          <a:prstGeom prst="roundRect">
            <a:avLst>
              <a:gd name="adj" fmla="val 1327"/>
            </a:avLst>
          </a:prstGeom>
          <a:solidFill>
            <a:srgbClr val="F1F6F7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60120" y="2011680"/>
            <a:ext cx="6766560" cy="413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캡처 삽입 위치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완료 후 리포트가 제공된 화면 · 다운로드 버튼이 보이도록 캡처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75320" y="2011680"/>
            <a:ext cx="3200400" cy="4133088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6E2E5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31352" y="219456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설명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31352" y="2542032"/>
            <a:ext cx="2688336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승인 결과를 서버에서 검증한 뒤 리포트 생성을 시작합니다.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생성이 끝나면 결과 화면에서 바로 열람하거나 PDF로 내려받을 수 있습니다.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다운로드 보관 기간은 결제 후 24시간이며 결제 전 화면에 고지합니다.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Naming-Link 결제경로</dc:title>
  <dc:subject>PptxGenJS Presentation</dc:subject>
  <dc:creator>Platforest Inc.</dc:creator>
  <cp:lastModifiedBy>Platforest Inc.</cp:lastModifiedBy>
  <cp:revision>1</cp:revision>
  <dcterms:created xsi:type="dcterms:W3CDTF">2026-08-18T03:38:35Z</dcterms:created>
  <dcterms:modified xsi:type="dcterms:W3CDTF">2026-08-18T03:38:35Z</dcterms:modified>
</cp:coreProperties>
</file>